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3162" y="1531050"/>
            <a:ext cx="6097749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面向 AGI4S 的 Sci-Evo 科学演化数据构建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1523126" y="2858086"/>
            <a:ext cx="609774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从文献解析到可训练数据的自动化流水线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241" y="3488522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34272" y="3484950"/>
            <a:ext cx="32545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团队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523126" y="3720694"/>
            <a:ext cx="609774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2026-05-29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赛题背景与问题定义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6553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106" y="966192"/>
            <a:ext cx="10287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传统数据痛点</a:t>
            </a:r>
            <a:endParaRPr lang="en-US" sz="1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41239"/>
            <a:ext cx="100013" cy="10001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8669" y="1326952"/>
            <a:ext cx="35075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静态知识冗余：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现有数据集多侧重于最终结论，缺乏对科研探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索过程的记录。</a:t>
            </a:r>
            <a:endParaRPr lang="en-US" sz="9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81262"/>
            <a:ext cx="100013" cy="10001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78669" y="1866974"/>
            <a:ext cx="35075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推理链路断裂：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模型往往只能“背诵”答案，无法理解“问题-实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验-修正”的逻辑闭环。</a:t>
            </a:r>
            <a:endParaRPr lang="en-US" sz="9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21285"/>
            <a:ext cx="100013" cy="10001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78669" y="2406997"/>
            <a:ext cx="35075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决策能力匮乏：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缺乏对科研工具调用、实验方案调整等动态决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策行为的训练数据。</a:t>
            </a:r>
            <a:endParaRPr lang="en-US" sz="9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996553"/>
            <a:ext cx="128588" cy="1714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093494" y="966192"/>
            <a:ext cx="182902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我们的切入点：Sci-Evo</a:t>
            </a:r>
            <a:endParaRPr lang="en-US" sz="12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341239"/>
            <a:ext cx="100013" cy="100013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064919" y="1326952"/>
            <a:ext cx="35075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动态过程建模：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显式记录科学演化路径，将科研过程转化为可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学习的轨迹。</a:t>
            </a:r>
            <a:endParaRPr lang="en-US" sz="9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1881262"/>
            <a:ext cx="100013" cy="100013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064919" y="1866974"/>
            <a:ext cx="35075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全链路追踪：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构建“初始请求 -&gt; 推理轨迹 -&gt; 验证结论”的结构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化数据。</a:t>
            </a:r>
            <a:endParaRPr lang="en-US" sz="9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2421285"/>
            <a:ext cx="100013" cy="100013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064919" y="2406997"/>
            <a:ext cx="35075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AGI4S 导向：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致力于培养模型具备科学家的思维方式，而非</a:t>
            </a: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单纯的信息检索。</a:t>
            </a:r>
            <a:endParaRPr lang="en-US" sz="900" dirty="0"/>
          </a:p>
        </p:txBody>
      </p:sp>
      <p:sp>
        <p:nvSpPr>
          <p:cNvPr id="20" name="Shape 9"/>
          <p:cNvSpPr/>
          <p:nvPr/>
        </p:nvSpPr>
        <p:spPr>
          <a:xfrm>
            <a:off x="0" y="3089895"/>
            <a:ext cx="9144000" cy="5625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0"/>
          <p:cNvSpPr/>
          <p:nvPr/>
        </p:nvSpPr>
        <p:spPr>
          <a:xfrm>
            <a:off x="0" y="3089895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1"/>
          <p:cNvSpPr/>
          <p:nvPr/>
        </p:nvSpPr>
        <p:spPr>
          <a:xfrm>
            <a:off x="2681167" y="3232770"/>
            <a:ext cx="3781639" cy="412552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9767" y="3354214"/>
            <a:ext cx="137517" cy="157163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3047284" y="3348856"/>
            <a:ext cx="3186922" cy="17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实现从“静态知识”到“动态科学家”的思维转变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35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项目目标与交付物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23342"/>
            <a:ext cx="2666991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3342"/>
            <a:ext cx="2666991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394" y="1237655"/>
            <a:ext cx="257175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1637705"/>
            <a:ext cx="238124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可复现流水线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14375" y="1937742"/>
            <a:ext cx="23812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构建基于 MinerU + Sciverse 的多源文献数据处理自动化流程。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38491" y="1023342"/>
            <a:ext cx="2666991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3238491" y="1023342"/>
            <a:ext cx="2666991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458" y="1237655"/>
            <a:ext cx="225028" cy="2571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81366" y="1637705"/>
            <a:ext cx="238124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AI-Ready 数据集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381366" y="1937742"/>
            <a:ext cx="23812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输出高纯度、结构化的 jsonl 数据集，直接适配大模型训练与微调。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905481" y="1023342"/>
            <a:ext cx="2666991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5905481" y="1023342"/>
            <a:ext cx="2666991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0375" y="1237655"/>
            <a:ext cx="257175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48356" y="1637705"/>
            <a:ext cx="238124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多学科全覆盖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048356" y="1937742"/>
            <a:ext cx="23812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实现对材料、物理、生物等 8 个以上前沿学科领域的深度覆盖。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51262"/>
            <a:ext cx="196453" cy="1571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53678" y="2923580"/>
            <a:ext cx="110013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核心交付物清单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71500" y="3278981"/>
            <a:ext cx="4000500" cy="376833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410248"/>
            <a:ext cx="85725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07256" y="3386138"/>
            <a:ext cx="291501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核心数据集：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scievo_multi_paper_draft.jsonl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571500" y="3798689"/>
            <a:ext cx="4000500" cy="376833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929955"/>
            <a:ext cx="128588" cy="1143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50119" y="3905845"/>
            <a:ext cx="2577722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标准规范：数据 Schema + 技术报告 + 来源清单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571500" y="4318397"/>
            <a:ext cx="4000500" cy="376833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449663"/>
            <a:ext cx="114300" cy="1143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35831" y="4425553"/>
            <a:ext cx="270577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数据集切分：</a:t>
            </a: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/ Valid / Test</a:t>
            </a:r>
            <a:r>
              <a:rPr lang="en-US" sz="9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独立集合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571500" y="4838105"/>
            <a:ext cx="4000500" cy="376833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969371"/>
            <a:ext cx="128588" cy="1143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50119" y="4945261"/>
            <a:ext cx="255031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工程套件：全套数据构建脚本与可复现中间产物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技术架构总览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166217"/>
            <a:ext cx="1500188" cy="53578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166217"/>
            <a:ext cx="1500188" cy="535781"/>
          </a:xfrm>
          <a:prstGeom prst="rect">
            <a:avLst/>
          </a:prstGeom>
          <a:noFill/>
          <a:ln/>
        </p:spPr>
        <p:txBody>
          <a:bodyPr wrap="square" lIns="85090" tIns="127508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数据输入层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28625" y="1701998"/>
            <a:ext cx="1500188" cy="15859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866305"/>
            <a:ext cx="75009" cy="1000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941" y="1844873"/>
            <a:ext cx="6556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本地 PDF 文献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2092030"/>
            <a:ext cx="100013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2944" y="2070599"/>
            <a:ext cx="8113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Sciverse 检索结果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2317756"/>
            <a:ext cx="125016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947" y="2296325"/>
            <a:ext cx="62792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外部文献 URL</a:t>
            </a:r>
            <a:endParaRPr lang="en-US" sz="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3461" y="1885950"/>
            <a:ext cx="107156" cy="17145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2125266" y="1166217"/>
            <a:ext cx="1500188" cy="53578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8"/>
          <p:cNvSpPr/>
          <p:nvPr/>
        </p:nvSpPr>
        <p:spPr>
          <a:xfrm>
            <a:off x="2125266" y="1166217"/>
            <a:ext cx="1500188" cy="535781"/>
          </a:xfrm>
          <a:prstGeom prst="rect">
            <a:avLst/>
          </a:prstGeom>
          <a:noFill/>
          <a:ln/>
        </p:spPr>
        <p:txBody>
          <a:bodyPr wrap="square" lIns="85090" tIns="127508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解析层</a:t>
            </a:r>
            <a:endParaRPr lang="en-US" sz="900" dirty="0"/>
          </a:p>
        </p:txBody>
      </p:sp>
      <p:sp>
        <p:nvSpPr>
          <p:cNvPr id="16" name="Shape 9"/>
          <p:cNvSpPr/>
          <p:nvPr/>
        </p:nvSpPr>
        <p:spPr>
          <a:xfrm>
            <a:off x="2125266" y="1701998"/>
            <a:ext cx="1500188" cy="15859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2422" y="1866305"/>
            <a:ext cx="100013" cy="1000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389584" y="1844873"/>
            <a:ext cx="8501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MinerU 高精度解析</a:t>
            </a:r>
            <a:endParaRPr lang="en-US" sz="7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2422" y="2092030"/>
            <a:ext cx="125016" cy="10001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2414588" y="2070599"/>
            <a:ext cx="8113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Sciverse 内容拉取</a:t>
            </a:r>
            <a:endParaRPr lang="en-US" sz="7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422" y="2317756"/>
            <a:ext cx="125016" cy="10001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414588" y="2296325"/>
            <a:ext cx="7000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结构化文本提取</a:t>
            </a:r>
            <a:endParaRPr lang="en-US" sz="7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0102" y="1885950"/>
            <a:ext cx="107156" cy="171450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821906" y="1166217"/>
            <a:ext cx="1500188" cy="53578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14"/>
          <p:cNvSpPr/>
          <p:nvPr/>
        </p:nvSpPr>
        <p:spPr>
          <a:xfrm>
            <a:off x="3821906" y="1166217"/>
            <a:ext cx="1500188" cy="535781"/>
          </a:xfrm>
          <a:prstGeom prst="rect">
            <a:avLst/>
          </a:prstGeom>
          <a:noFill/>
          <a:ln/>
        </p:spPr>
        <p:txBody>
          <a:bodyPr wrap="square" lIns="85090" tIns="127508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构建层</a:t>
            </a:r>
            <a:endParaRPr lang="en-US" sz="900" dirty="0"/>
          </a:p>
        </p:txBody>
      </p:sp>
      <p:sp>
        <p:nvSpPr>
          <p:cNvPr id="26" name="Shape 15"/>
          <p:cNvSpPr/>
          <p:nvPr/>
        </p:nvSpPr>
        <p:spPr>
          <a:xfrm>
            <a:off x="3821906" y="1701998"/>
            <a:ext cx="1500188" cy="15859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9063" y="1866305"/>
            <a:ext cx="75009" cy="100013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4061222" y="1844873"/>
            <a:ext cx="68914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 转换</a:t>
            </a:r>
            <a:endParaRPr lang="en-US" sz="75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9063" y="2092030"/>
            <a:ext cx="112514" cy="100013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4098727" y="2070599"/>
            <a:ext cx="77241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Sci-Evo 轨迹生成</a:t>
            </a:r>
            <a:endParaRPr lang="en-US" sz="75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29063" y="2317756"/>
            <a:ext cx="75009" cy="100013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4061222" y="2296325"/>
            <a:ext cx="84650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JSONL 结构化封装</a:t>
            </a:r>
            <a:endParaRPr lang="en-US" sz="75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66742" y="1885950"/>
            <a:ext cx="107156" cy="171450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5518547" y="1166217"/>
            <a:ext cx="1500188" cy="53578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20"/>
          <p:cNvSpPr/>
          <p:nvPr/>
        </p:nvSpPr>
        <p:spPr>
          <a:xfrm>
            <a:off x="5518547" y="1166217"/>
            <a:ext cx="1500188" cy="535781"/>
          </a:xfrm>
          <a:prstGeom prst="rect">
            <a:avLst/>
          </a:prstGeom>
          <a:noFill/>
          <a:ln/>
        </p:spPr>
        <p:txBody>
          <a:bodyPr wrap="square" lIns="85090" tIns="127508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质量层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5518547" y="1701998"/>
            <a:ext cx="1500188" cy="15859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25703" y="1866305"/>
            <a:ext cx="100013" cy="100013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782866" y="1844873"/>
            <a:ext cx="79474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自动校验</a:t>
            </a:r>
            <a:endParaRPr lang="en-US" sz="75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25703" y="2092030"/>
            <a:ext cx="100013" cy="100013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5782866" y="2070599"/>
            <a:ext cx="6000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多重去重策略</a:t>
            </a:r>
            <a:endParaRPr lang="en-US" sz="750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25703" y="2317756"/>
            <a:ext cx="112514" cy="100013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5795367" y="2296325"/>
            <a:ext cx="6000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数据分布统计</a:t>
            </a:r>
            <a:endParaRPr lang="en-US" sz="750" dirty="0"/>
          </a:p>
        </p:txBody>
      </p:sp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63383" y="1885950"/>
            <a:ext cx="107156" cy="171450"/>
          </a:xfrm>
          <a:prstGeom prst="rect">
            <a:avLst/>
          </a:prstGeom>
        </p:spPr>
      </p:pic>
      <p:sp>
        <p:nvSpPr>
          <p:cNvPr id="44" name="Shape 25"/>
          <p:cNvSpPr/>
          <p:nvPr/>
        </p:nvSpPr>
        <p:spPr>
          <a:xfrm>
            <a:off x="7215188" y="1166217"/>
            <a:ext cx="1500188" cy="53578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Text 26"/>
          <p:cNvSpPr/>
          <p:nvPr/>
        </p:nvSpPr>
        <p:spPr>
          <a:xfrm>
            <a:off x="7215188" y="1166217"/>
            <a:ext cx="1500188" cy="535781"/>
          </a:xfrm>
          <a:prstGeom prst="rect">
            <a:avLst/>
          </a:prstGeom>
          <a:noFill/>
          <a:ln/>
        </p:spPr>
        <p:txBody>
          <a:bodyPr wrap="square" lIns="85090" tIns="127508" rIns="8509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输出层</a:t>
            </a:r>
            <a:endParaRPr lang="en-US" sz="900" dirty="0"/>
          </a:p>
        </p:txBody>
      </p:sp>
      <p:sp>
        <p:nvSpPr>
          <p:cNvPr id="46" name="Shape 27"/>
          <p:cNvSpPr/>
          <p:nvPr/>
        </p:nvSpPr>
        <p:spPr>
          <a:xfrm>
            <a:off x="7215188" y="1701998"/>
            <a:ext cx="1500188" cy="15859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22344" y="1866305"/>
            <a:ext cx="87511" cy="100013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7467005" y="1844873"/>
            <a:ext cx="80593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Train/Valid/Test 集</a:t>
            </a:r>
            <a:endParaRPr lang="en-US" sz="75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22344" y="2092030"/>
            <a:ext cx="87511" cy="100013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7467005" y="2070599"/>
            <a:ext cx="7000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技术报告与清单</a:t>
            </a:r>
            <a:endParaRPr lang="en-US" sz="75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22344" y="2317756"/>
            <a:ext cx="100013" cy="100013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7479506" y="2296325"/>
            <a:ext cx="7000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可复现中间产物</a:t>
            </a:r>
            <a:endParaRPr lang="en-US" sz="750" dirty="0"/>
          </a:p>
        </p:txBody>
      </p:sp>
      <p:sp>
        <p:nvSpPr>
          <p:cNvPr id="53" name="Shape 31"/>
          <p:cNvSpPr/>
          <p:nvPr/>
        </p:nvSpPr>
        <p:spPr>
          <a:xfrm>
            <a:off x="0" y="3702248"/>
            <a:ext cx="9144000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4" name="Shape 32"/>
          <p:cNvSpPr/>
          <p:nvPr/>
        </p:nvSpPr>
        <p:spPr>
          <a:xfrm>
            <a:off x="0" y="3702248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3927277"/>
            <a:ext cx="171450" cy="171450"/>
          </a:xfrm>
          <a:prstGeom prst="rect">
            <a:avLst/>
          </a:prstGeom>
        </p:spPr>
      </p:pic>
      <p:sp>
        <p:nvSpPr>
          <p:cNvPr id="56" name="Text 33"/>
          <p:cNvSpPr/>
          <p:nvPr/>
        </p:nvSpPr>
        <p:spPr>
          <a:xfrm>
            <a:off x="850106" y="3916561"/>
            <a:ext cx="48577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核心优势：全流程自动化闭环，确保数据生产的高效性、稳定性与可追溯性。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数据结构 (Schema) 设计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23342"/>
            <a:ext cx="3786188" cy="364331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237655"/>
            <a:ext cx="3571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5813" y="1398389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"initial_request"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0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8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科学问题起点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5813" y="1559123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"trajectory"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</a:t>
            </a:r>
            <a:r>
              <a:rPr lang="en-US" sz="8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多步推理轨迹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85813" y="1719858"/>
            <a:ext cx="3571875" cy="160734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1, </a:t>
            </a: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"thought"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0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0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5813" y="1880592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85813" y="2041327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"success_verification"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8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指标与结论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85813" y="2202061"/>
            <a:ext cx="3571875" cy="160734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"metrics"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0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"conclusion"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0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85813" y="2362795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85813" y="2523530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"provenance"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8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来源追溯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85813" y="2684264"/>
            <a:ext cx="3571875" cy="160734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"doc_id"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0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"source_span"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0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5813" y="2844998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85813" y="3005733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"quality"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0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"draft"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"score"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0.8 }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85813" y="3166467"/>
            <a:ext cx="3571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1051024"/>
            <a:ext cx="112514" cy="10001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13077" y="1023342"/>
            <a:ext cx="9202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initial_request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429125" y="1221581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定义科学问题的边界与研究目标，作为模型推理的逻辑起点。</a:t>
            </a:r>
            <a:endParaRPr lang="en-US" sz="8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1592163"/>
            <a:ext cx="100013" cy="1000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00575" y="1564481"/>
            <a:ext cx="6186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trajectory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429125" y="1762720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记录“思考-行动-观察”的动态轨迹，支持模型学习复杂的科学决策。</a:t>
            </a:r>
            <a:endParaRPr lang="en-US" sz="8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2133302"/>
            <a:ext cx="100013" cy="10001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00575" y="2105620"/>
            <a:ext cx="13354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success_verification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429125" y="2303859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提供量化的实验指标与科学结论，用于验证推理过程的正确性。</a:t>
            </a:r>
            <a:endParaRPr lang="en-US" sz="8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2674441"/>
            <a:ext cx="125016" cy="10001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25578" y="2646759"/>
            <a:ext cx="7618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provenance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429125" y="2844998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精确到文档片段的来源追溯，确保数据的可信度与可核查性。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4429125" y="3380780"/>
            <a:ext cx="41433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设计原则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4429125" y="3643313"/>
            <a:ext cx="940017" cy="25003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25"/>
          <p:cNvSpPr/>
          <p:nvPr/>
        </p:nvSpPr>
        <p:spPr>
          <a:xfrm>
            <a:off x="4429125" y="3643313"/>
            <a:ext cx="940017" cy="250031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Schema 稳定性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5472336" y="3643313"/>
            <a:ext cx="728663" cy="25003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27"/>
          <p:cNvSpPr/>
          <p:nvPr/>
        </p:nvSpPr>
        <p:spPr>
          <a:xfrm>
            <a:off x="5472336" y="3643313"/>
            <a:ext cx="728663" cy="250031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语义明确性</a:t>
            </a:r>
            <a:endParaRPr lang="en-US" sz="700" dirty="0"/>
          </a:p>
        </p:txBody>
      </p:sp>
      <p:sp>
        <p:nvSpPr>
          <p:cNvPr id="35" name="Shape 28"/>
          <p:cNvSpPr/>
          <p:nvPr/>
        </p:nvSpPr>
        <p:spPr>
          <a:xfrm>
            <a:off x="6304192" y="3643313"/>
            <a:ext cx="928688" cy="25003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29"/>
          <p:cNvSpPr/>
          <p:nvPr/>
        </p:nvSpPr>
        <p:spPr>
          <a:xfrm>
            <a:off x="6304192" y="3643313"/>
            <a:ext cx="928688" cy="250031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便于训练与评测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数据构建流程 (可复现性)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35844" y="1166217"/>
            <a:ext cx="285750" cy="285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1035844" y="116621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19" y="1594842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1544" y="1930598"/>
            <a:ext cx="514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配置来源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75825" y="2173486"/>
            <a:ext cx="120578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定义CSV查询词或论文列表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735723" y="2420643"/>
            <a:ext cx="885965" cy="1535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6"/>
          <p:cNvSpPr/>
          <p:nvPr/>
        </p:nvSpPr>
        <p:spPr>
          <a:xfrm>
            <a:off x="735723" y="2420643"/>
            <a:ext cx="885965" cy="15359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source_list.csv</a:t>
            </a:r>
            <a:endParaRPr lang="en-US" sz="600" dirty="0"/>
          </a:p>
        </p:txBody>
      </p:sp>
      <p:sp>
        <p:nvSpPr>
          <p:cNvPr id="11" name="Shape 7"/>
          <p:cNvSpPr/>
          <p:nvPr/>
        </p:nvSpPr>
        <p:spPr>
          <a:xfrm>
            <a:off x="2732484" y="1166217"/>
            <a:ext cx="285750" cy="285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8"/>
          <p:cNvSpPr/>
          <p:nvPr/>
        </p:nvSpPr>
        <p:spPr>
          <a:xfrm>
            <a:off x="2732484" y="116621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059" y="159484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18184" y="1930598"/>
            <a:ext cx="514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解析处理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2216851" y="2173486"/>
            <a:ext cx="131701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调用 MinerU 与 Sciverse 解析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2432363" y="2420643"/>
            <a:ext cx="885965" cy="1535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2"/>
          <p:cNvSpPr/>
          <p:nvPr/>
        </p:nvSpPr>
        <p:spPr>
          <a:xfrm>
            <a:off x="2432363" y="2420643"/>
            <a:ext cx="885965" cy="15359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raw_extraction/</a:t>
            </a:r>
            <a:endParaRPr lang="en-US" sz="600" dirty="0"/>
          </a:p>
        </p:txBody>
      </p:sp>
      <p:sp>
        <p:nvSpPr>
          <p:cNvPr id="18" name="Shape 13"/>
          <p:cNvSpPr/>
          <p:nvPr/>
        </p:nvSpPr>
        <p:spPr>
          <a:xfrm>
            <a:off x="4429125" y="1166217"/>
            <a:ext cx="285750" cy="285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4"/>
          <p:cNvSpPr/>
          <p:nvPr/>
        </p:nvSpPr>
        <p:spPr>
          <a:xfrm>
            <a:off x="4429125" y="116621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275" y="1594842"/>
            <a:ext cx="17145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250531" y="1930598"/>
            <a:ext cx="642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中间态生成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013504" y="2173486"/>
            <a:ext cx="111699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生成 Markdown 与元数据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4129004" y="2420643"/>
            <a:ext cx="885965" cy="1535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18"/>
          <p:cNvSpPr/>
          <p:nvPr/>
        </p:nvSpPr>
        <p:spPr>
          <a:xfrm>
            <a:off x="4129004" y="2420643"/>
            <a:ext cx="885965" cy="15359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interim/full.md</a:t>
            </a:r>
            <a:endParaRPr lang="en-US" sz="600" dirty="0"/>
          </a:p>
        </p:txBody>
      </p:sp>
      <p:sp>
        <p:nvSpPr>
          <p:cNvPr id="25" name="Shape 19"/>
          <p:cNvSpPr/>
          <p:nvPr/>
        </p:nvSpPr>
        <p:spPr>
          <a:xfrm>
            <a:off x="6125766" y="1166217"/>
            <a:ext cx="285750" cy="285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0"/>
          <p:cNvSpPr/>
          <p:nvPr/>
        </p:nvSpPr>
        <p:spPr>
          <a:xfrm>
            <a:off x="6125766" y="116621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628" y="1594842"/>
            <a:ext cx="200025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47172" y="1930598"/>
            <a:ext cx="642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结构化构建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693457" y="2173486"/>
            <a:ext cx="115033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 Sci-Evo 格式 JSONL</a:t>
            </a:r>
            <a:endParaRPr lang="en-US" sz="750" dirty="0"/>
          </a:p>
        </p:txBody>
      </p:sp>
      <p:sp>
        <p:nvSpPr>
          <p:cNvPr id="30" name="Shape 23"/>
          <p:cNvSpPr/>
          <p:nvPr/>
        </p:nvSpPr>
        <p:spPr>
          <a:xfrm>
            <a:off x="5928531" y="2420643"/>
            <a:ext cx="680191" cy="1535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4"/>
          <p:cNvSpPr/>
          <p:nvPr/>
        </p:nvSpPr>
        <p:spPr>
          <a:xfrm>
            <a:off x="5928531" y="2420643"/>
            <a:ext cx="680191" cy="15359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draft.jsonl</a:t>
            </a:r>
            <a:endParaRPr lang="en-US" sz="600" dirty="0"/>
          </a:p>
        </p:txBody>
      </p:sp>
      <p:sp>
        <p:nvSpPr>
          <p:cNvPr id="32" name="Shape 25"/>
          <p:cNvSpPr/>
          <p:nvPr/>
        </p:nvSpPr>
        <p:spPr>
          <a:xfrm>
            <a:off x="7822406" y="1166217"/>
            <a:ext cx="285750" cy="285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26"/>
          <p:cNvSpPr/>
          <p:nvPr/>
        </p:nvSpPr>
        <p:spPr>
          <a:xfrm>
            <a:off x="7822406" y="116621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981" y="1594842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643813" y="1930598"/>
            <a:ext cx="642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校验与切分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367885" y="2173486"/>
            <a:ext cx="119479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校验与数据集切分</a:t>
            </a:r>
            <a:endParaRPr lang="en-US" sz="750" dirty="0"/>
          </a:p>
        </p:txBody>
      </p:sp>
      <p:sp>
        <p:nvSpPr>
          <p:cNvPr id="37" name="Shape 29"/>
          <p:cNvSpPr/>
          <p:nvPr/>
        </p:nvSpPr>
        <p:spPr>
          <a:xfrm>
            <a:off x="7548014" y="2420643"/>
            <a:ext cx="834507" cy="1535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0"/>
          <p:cNvSpPr/>
          <p:nvPr/>
        </p:nvSpPr>
        <p:spPr>
          <a:xfrm>
            <a:off x="7548014" y="2420643"/>
            <a:ext cx="834507" cy="15359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train/val/test</a:t>
            </a:r>
            <a:endParaRPr lang="en-US" sz="600" dirty="0"/>
          </a:p>
        </p:txBody>
      </p:sp>
      <p:sp>
        <p:nvSpPr>
          <p:cNvPr id="39" name="Shape 31"/>
          <p:cNvSpPr/>
          <p:nvPr/>
        </p:nvSpPr>
        <p:spPr>
          <a:xfrm>
            <a:off x="2135981" y="3431484"/>
            <a:ext cx="4872038" cy="478631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1731" y="3585074"/>
            <a:ext cx="192881" cy="17145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2721769" y="3574359"/>
            <a:ext cx="40005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工程质量核心：支持“一键重跑”全流程，确保科研数据严谨复现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数据规模与覆盖结果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951905"/>
            <a:ext cx="1857375" cy="694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951905"/>
            <a:ext cx="18573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30498"/>
            <a:ext cx="1857375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524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71500" y="1462683"/>
            <a:ext cx="18573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spc="1" kern="0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样本总数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619356" y="951905"/>
            <a:ext cx="1857375" cy="694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2619356" y="951905"/>
            <a:ext cx="18573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2619356" y="1130498"/>
            <a:ext cx="1857375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131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619356" y="1462683"/>
            <a:ext cx="18573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spc="1" kern="0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独立来源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67213" y="951905"/>
            <a:ext cx="1857375" cy="694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7213" y="951905"/>
            <a:ext cx="18573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4667213" y="1130498"/>
            <a:ext cx="1857375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67213" y="1462683"/>
            <a:ext cx="18573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spc="1" kern="0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学科领域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715069" y="951905"/>
            <a:ext cx="1857375" cy="6715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715069" y="951905"/>
            <a:ext cx="18573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6715069" y="1130498"/>
            <a:ext cx="1857375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367/79/78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15069" y="1462683"/>
            <a:ext cx="18573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spc="1" kern="0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TRAIN/VAL/TEST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28813"/>
            <a:ext cx="142875" cy="1428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85813" y="1903809"/>
            <a:ext cx="142074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学科分布情况 (样本数)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71500" y="2239566"/>
            <a:ext cx="8001000" cy="2428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382441"/>
            <a:ext cx="771525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质量控制与合规性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25141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106" y="1094780"/>
            <a:ext cx="10287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质量控制策略</a:t>
            </a:r>
            <a:endParaRPr lang="en-US" sz="1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76983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1541264"/>
            <a:ext cx="347900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自动化 Schema 校验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807244" y="1782366"/>
            <a:ext cx="34790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所有生成的 JSONL 数据必须通过严格的 JSON Schema 验证，确保字段完整性与类型准确性。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11016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7244" y="2375297"/>
            <a:ext cx="347900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多维去重机制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807244" y="2616398"/>
            <a:ext cx="34790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结合论文标题、DOI 及内部文档 ID，执行多层级去重，消除冗余信息，提升训练效率。</a:t>
            </a:r>
            <a:endParaRPr lang="en-US" sz="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45048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07244" y="3209330"/>
            <a:ext cx="347900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全链路元数据追溯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807244" y="3450431"/>
            <a:ext cx="34790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每个样本均包含 task_id 与 source_span，实现从结构化数据到原始文献的精确溯源。</a:t>
            </a:r>
            <a:endParaRPr lang="en-US" sz="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125141"/>
            <a:ext cx="214313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79219" y="1094780"/>
            <a:ext cx="10287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科研合规原则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4857750" y="1541264"/>
            <a:ext cx="3714750" cy="275213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6344" y="1783259"/>
            <a:ext cx="142875" cy="1143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64944" y="1719858"/>
            <a:ext cx="1085850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严禁虚假实验结果</a:t>
            </a:r>
            <a:endParaRPr lang="en-US" sz="950" dirty="0"/>
          </a:p>
        </p:txBody>
      </p:sp>
      <p:sp>
        <p:nvSpPr>
          <p:cNvPr id="20" name="Text 11"/>
          <p:cNvSpPr/>
          <p:nvPr/>
        </p:nvSpPr>
        <p:spPr>
          <a:xfrm>
            <a:off x="5250656" y="2139553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所有数据均基于真实文献解析，不通过 LLM 幻觉生成任何未经证实的实验结论。</a:t>
            </a:r>
            <a:endParaRPr lang="en-US" sz="8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6344" y="2688729"/>
            <a:ext cx="142875" cy="1143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64944" y="2625328"/>
            <a:ext cx="1085850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来源合法且可追溯</a:t>
            </a:r>
            <a:endParaRPr lang="en-US" sz="950" dirty="0"/>
          </a:p>
        </p:txBody>
      </p:sp>
      <p:sp>
        <p:nvSpPr>
          <p:cNvPr id="23" name="Text 13"/>
          <p:cNvSpPr/>
          <p:nvPr/>
        </p:nvSpPr>
        <p:spPr>
          <a:xfrm>
            <a:off x="5250656" y="3045023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严格遵守文献使用协议，所有数据来源均有据可查，确保科研成果的合法性。</a:t>
            </a:r>
            <a:endParaRPr lang="en-US" sz="8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6344" y="3594199"/>
            <a:ext cx="114300" cy="1143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236369" y="3530798"/>
            <a:ext cx="1085850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敏感信息脱敏处理</a:t>
            </a:r>
            <a:endParaRPr lang="en-US" sz="950" dirty="0"/>
          </a:p>
        </p:txBody>
      </p:sp>
      <p:sp>
        <p:nvSpPr>
          <p:cNvPr id="26" name="Text 15"/>
          <p:cNvSpPr/>
          <p:nvPr/>
        </p:nvSpPr>
        <p:spPr>
          <a:xfrm>
            <a:off x="5250656" y="3950494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密钥、个人身份信息及敏感 Token 严禁进入公开仓库，保障数据安全。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样本示例拆解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880467"/>
            <a:ext cx="9144000" cy="128588"/>
          </a:xfrm>
          <a:prstGeom prst="rect">
            <a:avLst/>
          </a:prstGeom>
          <a:noFill/>
          <a:ln/>
        </p:spPr>
        <p:txBody>
          <a:bodyPr wrap="square" lIns="90144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ID: paper_scv_xxx.draft.001</a:t>
            </a:r>
            <a:endParaRPr lang="en-US" sz="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87686"/>
            <a:ext cx="171450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8675" y="1466255"/>
            <a:ext cx="514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初始请求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2143125" y="1151930"/>
            <a:ext cx="6429375" cy="69294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0" y="1259086"/>
            <a:ext cx="6143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“在特定温度条件下，分析该材料的晶体结构演化过程，并预测其超导临界温度。”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286000" y="1501973"/>
            <a:ext cx="1350169" cy="153591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6"/>
          <p:cNvSpPr/>
          <p:nvPr/>
        </p:nvSpPr>
        <p:spPr>
          <a:xfrm>
            <a:off x="2286000" y="1501973"/>
            <a:ext cx="1350169" cy="153591"/>
          </a:xfrm>
          <a:prstGeom prst="rect">
            <a:avLst/>
          </a:prstGeom>
          <a:noFill/>
          <a:ln/>
        </p:spPr>
        <p:txBody>
          <a:bodyPr wrap="squar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定义科学问题起点与研究目标</a:t>
            </a:r>
            <a:endParaRPr lang="en-US" sz="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3156"/>
            <a:ext cx="171450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8675" y="2371725"/>
            <a:ext cx="514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推理轨迹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143125" y="1973461"/>
            <a:ext cx="6429375" cy="86082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86000" y="2080617"/>
            <a:ext cx="6143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 检索相关文献中的实验参数设置...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 调用模拟工具计算电子态密度分布...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3: 对比不同压力下的能带结构变化...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286000" y="2666405"/>
            <a:ext cx="1350169" cy="153591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Text 11"/>
          <p:cNvSpPr/>
          <p:nvPr/>
        </p:nvSpPr>
        <p:spPr>
          <a:xfrm>
            <a:off x="2286000" y="2666405"/>
            <a:ext cx="1350169" cy="153591"/>
          </a:xfrm>
          <a:prstGeom prst="rect">
            <a:avLst/>
          </a:prstGeom>
          <a:noFill/>
          <a:ln/>
        </p:spPr>
        <p:txBody>
          <a:bodyPr wrap="squar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展示多步推理与工具调用决策</a:t>
            </a:r>
            <a:endParaRPr lang="en-US" sz="6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98627"/>
            <a:ext cx="171450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8675" y="3277195"/>
            <a:ext cx="514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验证结论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2143125" y="2962870"/>
            <a:ext cx="6429375" cy="69294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286000" y="3070027"/>
            <a:ext cx="6143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“实验观测值与模拟结果一致，超导临界温度提升至 150K，验证了压力诱导相变的有效性。”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2286000" y="3312914"/>
            <a:ext cx="1350169" cy="153591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16"/>
          <p:cNvSpPr/>
          <p:nvPr/>
        </p:nvSpPr>
        <p:spPr>
          <a:xfrm>
            <a:off x="2286000" y="3312914"/>
            <a:ext cx="1350169" cy="153591"/>
          </a:xfrm>
          <a:prstGeom prst="rect">
            <a:avLst/>
          </a:prstGeom>
          <a:noFill/>
          <a:ln/>
        </p:spPr>
        <p:txBody>
          <a:bodyPr wrap="squar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提供量化指标与最终科学结论</a:t>
            </a:r>
            <a:endParaRPr lang="en-US" sz="650" dirty="0"/>
          </a:p>
        </p:txBody>
      </p:sp>
      <p:sp>
        <p:nvSpPr>
          <p:cNvPr id="23" name="Shape 17"/>
          <p:cNvSpPr/>
          <p:nvPr/>
        </p:nvSpPr>
        <p:spPr>
          <a:xfrm>
            <a:off x="0" y="3927277"/>
            <a:ext cx="9144000" cy="2946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0" y="3927277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84439"/>
            <a:ext cx="107156" cy="1071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5806" y="4080867"/>
            <a:ext cx="67271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科学推理训练</a:t>
            </a:r>
            <a:endParaRPr lang="en-US" sz="7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742" y="4084439"/>
            <a:ext cx="107156" cy="1071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157049" y="4080867"/>
            <a:ext cx="88702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工具调用决策学习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8297" y="4084439"/>
            <a:ext cx="107156" cy="1071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792603" y="4080867"/>
            <a:ext cx="77986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证据可追溯评测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与评分维度对齐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94780"/>
            <a:ext cx="8001000" cy="23359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94780"/>
            <a:ext cx="2500313" cy="5786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094780"/>
            <a:ext cx="2500313" cy="578644"/>
          </a:xfrm>
          <a:prstGeom prst="rect">
            <a:avLst/>
          </a:prstGeom>
          <a:noFill/>
          <a:ln/>
        </p:spPr>
        <p:txBody>
          <a:bodyPr wrap="square" lIns="212598" tIns="170053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评分维度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071813" y="1094780"/>
            <a:ext cx="5500688" cy="5786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3071813" y="1094780"/>
            <a:ext cx="5500688" cy="578644"/>
          </a:xfrm>
          <a:prstGeom prst="rect">
            <a:avLst/>
          </a:prstGeom>
          <a:noFill/>
          <a:ln/>
        </p:spPr>
        <p:txBody>
          <a:bodyPr wrap="square" lIns="212598" tIns="170053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本项目对应证据与成果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1673423"/>
            <a:ext cx="2500313" cy="347895"/>
          </a:xfrm>
          <a:prstGeom prst="rect">
            <a:avLst/>
          </a:prstGeom>
          <a:noFill/>
          <a:ln/>
        </p:spPr>
        <p:txBody>
          <a:bodyPr wrap="square" lIns="212598" tIns="170053" rIns="212598" bIns="8509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科学表达与推理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406" y="1848445"/>
            <a:ext cx="121444" cy="1214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43288" y="1844873"/>
            <a:ext cx="39602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显式多步轨迹建模，记录“思考-行动-观察”闭环，深度支持科学逻辑训练。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71500" y="2021318"/>
            <a:ext cx="8001000" cy="35146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9"/>
          <p:cNvSpPr/>
          <p:nvPr/>
        </p:nvSpPr>
        <p:spPr>
          <a:xfrm>
            <a:off x="571500" y="2021318"/>
            <a:ext cx="2500313" cy="351467"/>
          </a:xfrm>
          <a:prstGeom prst="rect">
            <a:avLst/>
          </a:prstGeom>
          <a:noFill/>
          <a:ln/>
        </p:spPr>
        <p:txBody>
          <a:bodyPr wrap="square" lIns="212598" tIns="170053" rIns="212598" bIns="8509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科学价值与创新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406" y="2199912"/>
            <a:ext cx="121444" cy="1214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43288" y="2196340"/>
            <a:ext cx="41765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 8 个前沿学科，首创 Sci-Evo 动态科研链路数据，填补静态知识库空白。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71500" y="2372785"/>
            <a:ext cx="2500313" cy="351467"/>
          </a:xfrm>
          <a:prstGeom prst="rect">
            <a:avLst/>
          </a:prstGeom>
          <a:noFill/>
          <a:ln/>
        </p:spPr>
        <p:txBody>
          <a:bodyPr wrap="square" lIns="212598" tIns="170053" rIns="212598" bIns="8509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AI-Ready 程度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406" y="2551379"/>
            <a:ext cx="121444" cy="1214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43288" y="2547807"/>
            <a:ext cx="45638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提供稳定 Schema 规范与标准 JSONL 格式，预设 Train/Valid/Test 切分，即拿即用。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71500" y="2724252"/>
            <a:ext cx="8001000" cy="35146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4"/>
          <p:cNvSpPr/>
          <p:nvPr/>
        </p:nvSpPr>
        <p:spPr>
          <a:xfrm>
            <a:off x="571500" y="2724252"/>
            <a:ext cx="2500313" cy="351467"/>
          </a:xfrm>
          <a:prstGeom prst="rect">
            <a:avLst/>
          </a:prstGeom>
          <a:noFill/>
          <a:ln/>
        </p:spPr>
        <p:txBody>
          <a:bodyPr wrap="square" lIns="212598" tIns="170053" rIns="212598" bIns="8509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工程复现能力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406" y="2902846"/>
            <a:ext cx="121444" cy="1214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43288" y="2899274"/>
            <a:ext cx="42641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全套自动化构建脚本，支持“一键重跑”，保留所有中间态 Markdown 与元数据。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571500" y="3075719"/>
            <a:ext cx="2500313" cy="351467"/>
          </a:xfrm>
          <a:prstGeom prst="rect">
            <a:avLst/>
          </a:prstGeom>
          <a:noFill/>
          <a:ln/>
        </p:spPr>
        <p:txBody>
          <a:bodyPr wrap="square" lIns="212598" tIns="170053" rIns="212598" bIns="8509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开放共享精神</a:t>
            </a:r>
            <a:endParaRPr lang="en-US" sz="9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0406" y="3254313"/>
            <a:ext cx="121444" cy="1214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443288" y="3250741"/>
            <a:ext cx="41628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完整技术报告、来源清单及代码全透明公开，支持评审专家进行全流程复核。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项目亮点与不足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96578"/>
            <a:ext cx="192881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1538" y="1166217"/>
            <a:ext cx="6858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项目亮点</a:t>
            </a:r>
            <a:endParaRPr lang="en-US" sz="1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8420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1612702"/>
            <a:ext cx="347900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完整闭环与规模化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807244" y="1853803"/>
            <a:ext cx="34790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实现了从“流程跑通”到“规模化生产”的完整闭环，工程化程度高，确保了数据产出的稳定性。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82453"/>
            <a:ext cx="112514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1170" y="2446734"/>
            <a:ext cx="349508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多源扩展能力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791170" y="2687836"/>
            <a:ext cx="3495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架构设计具备极强的兼容性，支持快速接入不同来源的文献数据，具备持续增量生产的能力。</a:t>
            </a:r>
            <a:endParaRPr lang="en-US" sz="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16486"/>
            <a:ext cx="96441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75097" y="3280767"/>
            <a:ext cx="351115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交付材料齐全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775097" y="3521869"/>
            <a:ext cx="35111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提供完整的 Schema、构建脚本、来源清单及技术报告，极大降低了后续复核与使用的门槛。</a:t>
            </a:r>
            <a:endParaRPr lang="en-US" sz="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196578"/>
            <a:ext cx="171450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36356" y="1166217"/>
            <a:ext cx="6858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当前不足</a:t>
            </a:r>
            <a:endParaRPr lang="en-US" sz="12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648420"/>
            <a:ext cx="128588" cy="12858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93494" y="1612702"/>
            <a:ext cx="347900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样本精修程度</a:t>
            </a:r>
            <a:endParaRPr lang="en-US" sz="950" dirty="0"/>
          </a:p>
        </p:txBody>
      </p:sp>
      <p:sp>
        <p:nvSpPr>
          <p:cNvPr id="19" name="Text 10"/>
          <p:cNvSpPr/>
          <p:nvPr/>
        </p:nvSpPr>
        <p:spPr>
          <a:xfrm>
            <a:off x="5093494" y="1853803"/>
            <a:ext cx="34790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目前部分样本仍处于 Draft 状态，虽然结构完整，但仍需进一步的人工精修以达到最高质量标准。</a:t>
            </a:r>
            <a:endParaRPr lang="en-US" sz="8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482453"/>
            <a:ext cx="160734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25641" y="2446734"/>
            <a:ext cx="344685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学科分布配平</a:t>
            </a:r>
            <a:endParaRPr lang="en-US" sz="950" dirty="0"/>
          </a:p>
        </p:txBody>
      </p:sp>
      <p:sp>
        <p:nvSpPr>
          <p:cNvPr id="22" name="Text 12"/>
          <p:cNvSpPr/>
          <p:nvPr/>
        </p:nvSpPr>
        <p:spPr>
          <a:xfrm>
            <a:off x="5125641" y="2687836"/>
            <a:ext cx="34468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虽然覆盖了 8 个学科，但各学科间的样本数量仍存在一定差异，未来需进一步优化学科配平。</a:t>
            </a:r>
            <a:endParaRPr lang="en-US" sz="8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3316486"/>
            <a:ext cx="128588" cy="12858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093494" y="3280767"/>
            <a:ext cx="347900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来源质量波动</a:t>
            </a:r>
            <a:endParaRPr lang="en-US" sz="950" dirty="0"/>
          </a:p>
        </p:txBody>
      </p:sp>
      <p:sp>
        <p:nvSpPr>
          <p:cNvPr id="25" name="Text 14"/>
          <p:cNvSpPr/>
          <p:nvPr/>
        </p:nvSpPr>
        <p:spPr>
          <a:xfrm>
            <a:off x="5093494" y="3521869"/>
            <a:ext cx="34790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个别文献来源的解析质量存在波动，需要引入更强大的过滤机制与质量评分系统。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下一步计划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571625" y="1309092"/>
            <a:ext cx="285750" cy="285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1571625" y="130909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986" y="1737717"/>
            <a:ext cx="225028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00175" y="2137767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数据优化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230" y="2493169"/>
            <a:ext cx="53578" cy="857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91245" y="2457450"/>
            <a:ext cx="914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持续扩展独立来源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230" y="2747470"/>
            <a:ext cx="53578" cy="857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91245" y="2711751"/>
            <a:ext cx="914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优化学科分布配平</a:t>
            </a:r>
            <a:endParaRPr lang="en-US" sz="850" dirty="0"/>
          </a:p>
        </p:txBody>
      </p:sp>
      <p:sp>
        <p:nvSpPr>
          <p:cNvPr id="12" name="Shape 6"/>
          <p:cNvSpPr/>
          <p:nvPr/>
        </p:nvSpPr>
        <p:spPr>
          <a:xfrm>
            <a:off x="4429125" y="1309092"/>
            <a:ext cx="285750" cy="285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7"/>
          <p:cNvSpPr/>
          <p:nvPr/>
        </p:nvSpPr>
        <p:spPr>
          <a:xfrm>
            <a:off x="4429125" y="130909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266" y="1737717"/>
            <a:ext cx="321469" cy="2571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257675" y="2137767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质量升级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1253" y="2493169"/>
            <a:ext cx="53578" cy="857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126269" y="2457450"/>
            <a:ext cx="11430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启动核心样本人工审核</a:t>
            </a:r>
            <a:endParaRPr lang="en-US" sz="8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1253" y="2747470"/>
            <a:ext cx="53578" cy="857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126269" y="2711751"/>
            <a:ext cx="115935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-&gt; Approved 升级</a:t>
            </a:r>
            <a:endParaRPr lang="en-US" sz="850" dirty="0"/>
          </a:p>
        </p:txBody>
      </p:sp>
      <p:sp>
        <p:nvSpPr>
          <p:cNvPr id="20" name="Shape 11"/>
          <p:cNvSpPr/>
          <p:nvPr/>
        </p:nvSpPr>
        <p:spPr>
          <a:xfrm>
            <a:off x="7286625" y="1309092"/>
            <a:ext cx="285750" cy="285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2"/>
          <p:cNvSpPr/>
          <p:nvPr/>
        </p:nvSpPr>
        <p:spPr>
          <a:xfrm>
            <a:off x="7286625" y="130909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9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0913" y="1737717"/>
            <a:ext cx="257175" cy="25717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115175" y="2137767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深度迭代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6985" y="2493169"/>
            <a:ext cx="53578" cy="8572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92001" y="2457450"/>
            <a:ext cx="11428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增加“失败-修正”逻辑链</a:t>
            </a:r>
            <a:endParaRPr lang="en-US" sz="8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6985" y="2747470"/>
            <a:ext cx="53578" cy="85725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92001" y="2711751"/>
            <a:ext cx="9144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提升量化指标质量</a:t>
            </a:r>
            <a:endParaRPr lang="en-US" sz="850" dirty="0"/>
          </a:p>
        </p:txBody>
      </p:sp>
      <p:sp>
        <p:nvSpPr>
          <p:cNvPr id="28" name="Shape 16"/>
          <p:cNvSpPr/>
          <p:nvPr/>
        </p:nvSpPr>
        <p:spPr>
          <a:xfrm>
            <a:off x="0" y="3394677"/>
            <a:ext cx="9144000" cy="6482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17"/>
          <p:cNvSpPr/>
          <p:nvPr/>
        </p:nvSpPr>
        <p:spPr>
          <a:xfrm>
            <a:off x="0" y="3394677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18"/>
          <p:cNvSpPr/>
          <p:nvPr/>
        </p:nvSpPr>
        <p:spPr>
          <a:xfrm>
            <a:off x="1966819" y="3608989"/>
            <a:ext cx="5210361" cy="426839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2569" y="3737577"/>
            <a:ext cx="157163" cy="157163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2516888" y="3732219"/>
            <a:ext cx="4374542" cy="17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长期愿景：构建具备持续迭代能力的 AGI4S 科学演化基石数据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39713" y="1101728"/>
            <a:ext cx="1864547" cy="314325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163" y="1189239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11188" y="1187453"/>
            <a:ext cx="13216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项目已达到可提交状态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2247714" y="1931519"/>
            <a:ext cx="4648572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构建 AGI4S 科学演化基石数据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2247714" y="2871620"/>
            <a:ext cx="4648572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我们已建立起一套标准化的自动化生产体系，</a:t>
            </a: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致力于为 AGI 时代的科学发现提供高质量的演化数据支撑。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2247714" y="3848863"/>
            <a:ext cx="464857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团队 | 2026-05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2026-05-30T14:50:54Z</dcterms:created>
  <dcterms:modified xsi:type="dcterms:W3CDTF">2026-05-30T14:50:54Z</dcterms:modified>
</cp:coreProperties>
</file>